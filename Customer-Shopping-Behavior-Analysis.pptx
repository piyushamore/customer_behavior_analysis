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Source Sans 3 ExtraLight"/>
      <p:regular r:id="rId201314"/>
    </p:embeddedFont>
    <p:embeddedFont>
      <p:font typeface="Source Sans 3 Light"/>
      <p:regular r:id="rId201315"/>
    </p:embeddedFont>
    <p:embeddedFont>
      <p:font typeface="Source Sans 3"/>
      <p:regular r:id="rId201316"/>
    </p:embeddedFont>
    <p:embeddedFont>
      <p:font typeface="Source Sans 3 Medium"/>
      <p:regular r:id="rId201317"/>
    </p:embeddedFont>
    <p:embeddedFont>
      <p:font typeface="Source Sans 3 SemiBold"/>
      <p:regular r:id="rId201318"/>
    </p:embeddedFont>
    <p:embeddedFont>
      <p:font typeface="Source Sans 3 Bold"/>
      <p:regular r:id="rId201319"/>
    </p:embeddedFont>
    <p:embeddedFont>
      <p:font typeface="Source Sans 3 ExtraBold"/>
      <p:regular r:id="rId201320"/>
    </p:embeddedFont>
    <p:embeddedFont>
      <p:font typeface="Source Sans 3 Black"/>
      <p:regular r:id="rId201321"/>
    </p:embeddedFont>
    <p:embeddedFont>
      <p:font typeface="Source Serif 4 ExtraLight"/>
      <p:regular r:id="rId201322"/>
    </p:embeddedFont>
    <p:embeddedFont>
      <p:font typeface="Source Serif 4 Light"/>
      <p:regular r:id="rId201323"/>
    </p:embeddedFont>
    <p:embeddedFont>
      <p:font typeface="Source Serif 4"/>
      <p:regular r:id="rId201324"/>
    </p:embeddedFont>
    <p:embeddedFont>
      <p:font typeface="Source Serif 4 Medium"/>
      <p:regular r:id="rId201325"/>
    </p:embeddedFont>
    <p:embeddedFont>
      <p:font typeface="Source Serif 4 SemiBold"/>
      <p:regular r:id="rId201326"/>
    </p:embeddedFont>
    <p:embeddedFont>
      <p:font typeface="Source Serif 4 Bold"/>
      <p:regular r:id="rId201327"/>
    </p:embeddedFont>
    <p:embeddedFont>
      <p:font typeface="Source Serif 4 ExtraBold"/>
      <p:regular r:id="rId201328"/>
    </p:embeddedFont>
    <p:embeddedFont>
      <p:font typeface="Source Serif 4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image" Target="../media/image-10-1.png"/><Relationship Id="rId8" Type="http://schemas.openxmlformats.org/officeDocument/2006/relationships/image" Target="../media/image-10-2.svg"/><Relationship Id="rId9" Type="http://schemas.openxmlformats.org/officeDocument/2006/relationships/image" Target="../media/image-10-1.png"/><Relationship Id="rId10" Type="http://schemas.openxmlformats.org/officeDocument/2006/relationships/image" Target="../media/image-10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555477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523577" y="2659856"/>
            <a:ext cx="4667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Uncovering insights from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guide strategic business decisions.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523577" y="3306887"/>
            <a:ext cx="1659806" cy="281136"/>
          </a:xfrm>
          <a:prstGeom prst="roundRect">
            <a:avLst>
              <a:gd name="adj" fmla="val 17881"/>
            </a:avLst>
          </a:prstGeom>
          <a:solidFill>
            <a:srgbClr val="F4D4F7"/>
          </a:solidFill>
          <a:ln/>
        </p:spPr>
      </p:sp>
      <p:sp>
        <p:nvSpPr>
          <p:cNvPr id="6" name="Shape 3"/>
          <p:cNvSpPr/>
          <p:nvPr/>
        </p:nvSpPr>
        <p:spPr>
          <a:xfrm>
            <a:off x="613321" y="3387626"/>
            <a:ext cx="119658" cy="119658"/>
          </a:xfrm>
          <a:prstGeom prst="rect">
            <a:avLst/>
          </a:prstGeom>
          <a:solidFill>
            <a:srgbClr val="272525"/>
          </a:solidFill>
          <a:ln/>
        </p:spPr>
      </p:sp>
      <p:sp>
        <p:nvSpPr>
          <p:cNvPr id="7" name="Text 4"/>
          <p:cNvSpPr/>
          <p:nvPr/>
        </p:nvSpPr>
        <p:spPr>
          <a:xfrm>
            <a:off x="792807" y="3351758"/>
            <a:ext cx="1758032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 ANALYTICS PROJECT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747936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Dataset at a Glance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561951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3,900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1620962" y="22426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Purchases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2552328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Across all categories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665464" y="1561951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18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5762848" y="2242617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Columns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5464" y="2552328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Features tracked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23577" y="3165723"/>
            <a:ext cx="3954884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37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1620962" y="384638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Missing Values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23577" y="4156100"/>
            <a:ext cx="395488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 Review Rating only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665464" y="3165723"/>
            <a:ext cx="3954959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8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25</a:t>
            </a:r>
            <a:endParaRPr lang="en-US" sz="3850" dirty="0"/>
          </a:p>
        </p:txBody>
      </p:sp>
      <p:sp>
        <p:nvSpPr>
          <p:cNvPr id="13" name="Text 11"/>
          <p:cNvSpPr/>
          <p:nvPr/>
        </p:nvSpPr>
        <p:spPr>
          <a:xfrm>
            <a:off x="5762848" y="3846388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Products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5464" y="4156100"/>
            <a:ext cx="3954959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Unique items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44996"/>
            <a:ext cx="4073872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Python Data Preparation</a:t>
            </a:r>
            <a:endParaRPr lang="en-US" sz="2350" dirty="0"/>
          </a:p>
        </p:txBody>
      </p:sp>
      <p:sp>
        <p:nvSpPr>
          <p:cNvPr id="4" name="Text 1"/>
          <p:cNvSpPr/>
          <p:nvPr/>
        </p:nvSpPr>
        <p:spPr>
          <a:xfrm>
            <a:off x="3952577" y="988814"/>
            <a:ext cx="257101" cy="160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01</a:t>
            </a:r>
            <a:endParaRPr lang="en-US" sz="10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577" y="1192932"/>
            <a:ext cx="4667845" cy="142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52577" y="1285726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Load &amp; Explore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3952577" y="1541041"/>
            <a:ext cx="4667845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Imported via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inspected with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info()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&amp;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describe()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3952577" y="1948607"/>
            <a:ext cx="257101" cy="160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02</a:t>
            </a:r>
            <a:endParaRPr lang="en-US" sz="10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2577" y="2139851"/>
            <a:ext cx="4667845" cy="142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952577" y="2245519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Clean &amp; Impute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952577" y="2500833"/>
            <a:ext cx="466784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Median imputation for missing Review Ratings by category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3952577" y="2898874"/>
            <a:ext cx="257101" cy="160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03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577" y="3077319"/>
            <a:ext cx="4667845" cy="1428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952577" y="3195786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Engineer Features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3952577" y="3451101"/>
            <a:ext cx="4667845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bins &amp; </a:t>
            </a:r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3952577" y="3858667"/>
            <a:ext cx="257101" cy="1606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04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2577" y="4024238"/>
            <a:ext cx="4667845" cy="1428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952577" y="4155579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Load to DB</a:t>
            </a:r>
            <a:endParaRPr lang="en-US" sz="1150" dirty="0"/>
          </a:p>
        </p:txBody>
      </p:sp>
      <p:sp>
        <p:nvSpPr>
          <p:cNvPr id="19" name="Text 12"/>
          <p:cNvSpPr/>
          <p:nvPr/>
        </p:nvSpPr>
        <p:spPr>
          <a:xfrm>
            <a:off x="3952577" y="4410894"/>
            <a:ext cx="466784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Cleaned DataFrame loaded into PostgreSQL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Revenue by Gender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Finding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2.1× more revenue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than female customers.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59226" y="2510433"/>
            <a:ext cx="1858194" cy="118556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04048" y="2679055"/>
            <a:ext cx="14447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Male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5004048" y="3048595"/>
            <a:ext cx="144474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$157,890 — 2,652 customers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66992" y="2510433"/>
            <a:ext cx="1858194" cy="11855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11814" y="2679055"/>
            <a:ext cx="144474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Female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7011814" y="3048595"/>
            <a:ext cx="144474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$75,191 — 1,248 customers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594739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Subscribers vs. Non-Subscribers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Subscription Gap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63403"/>
            <a:ext cx="386595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Only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27%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customers subscribe — yet avg. spend is nearly identical (~$59).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759226" y="2510433"/>
            <a:ext cx="3865959" cy="1062112"/>
          </a:xfrm>
          <a:prstGeom prst="roundRect">
            <a:avLst>
              <a:gd name="adj" fmla="val 5916"/>
            </a:avLst>
          </a:prstGeom>
          <a:solidFill>
            <a:srgbClr val="F4D4F7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798" y="2728392"/>
            <a:ext cx="187003" cy="1495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5373" y="2682404"/>
            <a:ext cx="323024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Repeat buyers with 5+ purchases: 958 subscribers vs. 2,518 non-subscribers — a major conversion opportunity.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79921"/>
            <a:ext cx="454655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Customer Segmentation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512540"/>
            <a:ext cx="3865959" cy="27827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9386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Segment Breakdown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4759226" y="1882080"/>
            <a:ext cx="1858194" cy="1161752"/>
          </a:xfrm>
          <a:prstGeom prst="roundRect">
            <a:avLst>
              <a:gd name="adj" fmla="val 5409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913561" y="2036415"/>
            <a:ext cx="1549524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Loyal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913561" y="2410718"/>
            <a:ext cx="154952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3,116 customers —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80%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base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766992" y="1882080"/>
            <a:ext cx="1858194" cy="1161752"/>
          </a:xfrm>
          <a:prstGeom prst="roundRect">
            <a:avLst>
              <a:gd name="adj" fmla="val 5409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921326" y="2036415"/>
            <a:ext cx="1549524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Returning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921326" y="2410718"/>
            <a:ext cx="154952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701 customers —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18%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base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9226" y="3193405"/>
            <a:ext cx="3865959" cy="922362"/>
          </a:xfrm>
          <a:prstGeom prst="roundRect">
            <a:avLst>
              <a:gd name="adj" fmla="val 6813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13561" y="3347740"/>
            <a:ext cx="1760116" cy="224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 New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913561" y="3722043"/>
            <a:ext cx="3557290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83 customers — </a:t>
            </a:r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2%</a:t>
            </a:r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 base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84671"/>
            <a:ext cx="490589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Products &amp; Categories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9861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5 by Rating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3577" y="1786830"/>
            <a:ext cx="3865959" cy="2603748"/>
          </a:xfrm>
          <a:prstGeom prst="roundRect">
            <a:avLst>
              <a:gd name="adj" fmla="val 2413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7912" y="1886099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Product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606129" y="1886099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Avg Rating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77912" y="2319263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Gloves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606129" y="2319263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3.86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77912" y="2752427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Sandals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606129" y="2752427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3.84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77912" y="3185592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06129" y="3185592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7912" y="3618756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Hat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606129" y="3618756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3.80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7912" y="4051920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Skirt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06129" y="4051920"/>
            <a:ext cx="2086273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3.78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9226" y="1398612"/>
            <a:ext cx="2710383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Top Products per Category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759226" y="1768153"/>
            <a:ext cx="3865959" cy="11144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Accessories: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Jewelry, Sunglasses, Belt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Clothing: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Blouse, Pants, Shirt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Footwear: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Sandals, Shoes, Sneakers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Outerwear: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Jacket, Coat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95151"/>
            <a:ext cx="7288113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Discount Dependency &amp; Revenue by Age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309092"/>
            <a:ext cx="267287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Products Most Discounted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697310"/>
            <a:ext cx="3865959" cy="27827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59226" y="1309092"/>
            <a:ext cx="23729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Revenue by Age Group</a:t>
            </a:r>
            <a:endParaRPr lang="en-US" sz="13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226" y="1697310"/>
            <a:ext cx="3865959" cy="278271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54596"/>
            <a:ext cx="3482429" cy="378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Power BI Dashboard</a:t>
            </a:r>
            <a:endParaRPr lang="en-US" sz="2350" dirty="0"/>
          </a:p>
        </p:txBody>
      </p:sp>
      <p:sp>
        <p:nvSpPr>
          <p:cNvPr id="4" name="Shape 1"/>
          <p:cNvSpPr/>
          <p:nvPr/>
        </p:nvSpPr>
        <p:spPr>
          <a:xfrm>
            <a:off x="523577" y="998413"/>
            <a:ext cx="4667845" cy="713110"/>
          </a:xfrm>
          <a:prstGeom prst="roundRect">
            <a:avLst>
              <a:gd name="adj" fmla="val 7573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56853" y="1131689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3.9K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56853" y="1387004"/>
            <a:ext cx="440129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Customers tracked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23577" y="1821954"/>
            <a:ext cx="4667845" cy="713110"/>
          </a:xfrm>
          <a:prstGeom prst="roundRect">
            <a:avLst>
              <a:gd name="adj" fmla="val 7573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6853" y="1955229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$59.76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56853" y="2210544"/>
            <a:ext cx="440129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Avg. purchase amount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3577" y="2645494"/>
            <a:ext cx="4667845" cy="713110"/>
          </a:xfrm>
          <a:prstGeom prst="roundRect">
            <a:avLst>
              <a:gd name="adj" fmla="val 7573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6853" y="2778770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3.75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56853" y="3034085"/>
            <a:ext cx="440129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Avg. review rating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3577" y="3469035"/>
            <a:ext cx="4667845" cy="713110"/>
          </a:xfrm>
          <a:prstGeom prst="roundRect">
            <a:avLst>
              <a:gd name="adj" fmla="val 7573"/>
            </a:avLst>
          </a:prstGeom>
          <a:solidFill>
            <a:srgbClr val="F4D4F7"/>
          </a:solidFill>
          <a:ln w="4763">
            <a:solidFill>
              <a:srgbClr val="DAB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6853" y="3602310"/>
            <a:ext cx="1512615" cy="18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27%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56853" y="3857625"/>
            <a:ext cx="4401294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Subscriber share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23577" y="4306416"/>
            <a:ext cx="4667845" cy="382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Interactive filters: Subscription Status, Gender, Category, Shipping Type — with revenue &amp; sales breakdowns by category and age group.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1768"/>
            <a:ext cx="4921821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Business Recommendations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188" y="1131503"/>
            <a:ext cx="210369" cy="2103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9363" y="1127224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Boost Subscriptions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979363" y="1412379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Promote exclusive subscriber benefits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6188" y="1897000"/>
            <a:ext cx="210369" cy="21036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79363" y="1892722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Loyalty Programs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979363" y="2177876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Reward repeat buyers → Loyal segment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188" y="2662498"/>
            <a:ext cx="210369" cy="21036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9363" y="2658219"/>
            <a:ext cx="1863105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Review Discount Policy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979363" y="2943374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Balance sales lift vs. margin control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6188" y="3427995"/>
            <a:ext cx="210369" cy="21036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9363" y="3423717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Product Positioning</a:t>
            </a:r>
            <a:endParaRPr lang="en-US" sz="1250" dirty="0"/>
          </a:p>
        </p:txBody>
      </p:sp>
      <p:sp>
        <p:nvSpPr>
          <p:cNvPr id="14" name="Text 8"/>
          <p:cNvSpPr/>
          <p:nvPr/>
        </p:nvSpPr>
        <p:spPr>
          <a:xfrm>
            <a:off x="979363" y="3708871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Highlight top-rated &amp; best-selling items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6188" y="4193493"/>
            <a:ext cx="210369" cy="21036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79363" y="4189214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Targeted Marketing</a:t>
            </a:r>
            <a:endParaRPr lang="en-US" sz="1250" dirty="0"/>
          </a:p>
        </p:txBody>
      </p:sp>
      <p:sp>
        <p:nvSpPr>
          <p:cNvPr id="17" name="Text 10"/>
          <p:cNvSpPr/>
          <p:nvPr/>
        </p:nvSpPr>
        <p:spPr>
          <a:xfrm>
            <a:off x="979363" y="4474369"/>
            <a:ext cx="7641059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Focus on high-revenue age groups &amp; express-shipping users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2026-06-26T05:32:27Z</dcterms:created>
  <dcterms:modified xsi:type="dcterms:W3CDTF">2026-06-26T05:32:27Z</dcterms:modified>
</cp:coreProperties>
</file>